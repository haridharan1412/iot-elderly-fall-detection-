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rchivo Black" panose="020B0604020202020204" charset="0"/>
      <p:regular r:id="rId11"/>
    </p:embeddedFont>
    <p:embeddedFont>
      <p:font typeface="League Spartan" panose="020B0604020202020204" charset="0"/>
      <p:regular r:id="rId12"/>
      <p:bold r:id="rId13"/>
    </p:embeddedFont>
    <p:embeddedFont>
      <p:font typeface="Poppins" panose="020B0502040204020203" pitchFamily="2"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94574" autoAdjust="0"/>
  </p:normalViewPr>
  <p:slideViewPr>
    <p:cSldViewPr>
      <p:cViewPr varScale="1">
        <p:scale>
          <a:sx n="56" d="100"/>
          <a:sy n="56" d="100"/>
        </p:scale>
        <p:origin x="610"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grpSp>
        <p:nvGrpSpPr>
          <p:cNvPr id="3" name="Group 3"/>
          <p:cNvGrpSpPr/>
          <p:nvPr/>
        </p:nvGrpSpPr>
        <p:grpSpPr>
          <a:xfrm>
            <a:off x="0" y="0"/>
            <a:ext cx="3086100" cy="10287000"/>
            <a:chOff x="0" y="0"/>
            <a:chExt cx="812800" cy="2709333"/>
          </a:xfrm>
        </p:grpSpPr>
        <p:sp>
          <p:nvSpPr>
            <p:cNvPr id="4" name="Freeform 4"/>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sp>
        <p:sp>
          <p:nvSpPr>
            <p:cNvPr id="5" name="TextBox 5"/>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851853" y="3086404"/>
            <a:ext cx="10991397" cy="2298536"/>
          </a:xfrm>
          <a:prstGeom prst="rect">
            <a:avLst/>
          </a:prstGeom>
        </p:spPr>
        <p:txBody>
          <a:bodyPr lIns="0" tIns="0" rIns="0" bIns="0" rtlCol="0" anchor="t">
            <a:spAutoFit/>
          </a:bodyPr>
          <a:lstStyle/>
          <a:p>
            <a:pPr algn="ctr">
              <a:lnSpc>
                <a:spcPts val="9284"/>
              </a:lnSpc>
              <a:spcBef>
                <a:spcPct val="0"/>
              </a:spcBef>
            </a:pPr>
            <a:r>
              <a:rPr lang="en-US" sz="6631">
                <a:solidFill>
                  <a:srgbClr val="593C8F"/>
                </a:solidFill>
                <a:latin typeface="League Spartan"/>
              </a:rPr>
              <a:t>ELDERLY FALL DETECTION SYSTEM</a:t>
            </a:r>
          </a:p>
        </p:txBody>
      </p:sp>
      <p:sp>
        <p:nvSpPr>
          <p:cNvPr id="7" name="Freeform 7"/>
          <p:cNvSpPr/>
          <p:nvPr/>
        </p:nvSpPr>
        <p:spPr>
          <a:xfrm>
            <a:off x="13763158" y="387350"/>
            <a:ext cx="4160184" cy="4114800"/>
          </a:xfrm>
          <a:custGeom>
            <a:avLst/>
            <a:gdLst/>
            <a:ahLst/>
            <a:cxnLst/>
            <a:rect l="l" t="t" r="r" b="b"/>
            <a:pathLst>
              <a:path w="4160184" h="4114800">
                <a:moveTo>
                  <a:pt x="0" y="0"/>
                </a:moveTo>
                <a:lnTo>
                  <a:pt x="4160184" y="0"/>
                </a:lnTo>
                <a:lnTo>
                  <a:pt x="4160184" y="4114800"/>
                </a:lnTo>
                <a:lnTo>
                  <a:pt x="0" y="4114800"/>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6724623" y="7234996"/>
            <a:ext cx="6583633" cy="462884"/>
          </a:xfrm>
          <a:prstGeom prst="rect">
            <a:avLst/>
          </a:prstGeom>
        </p:spPr>
        <p:txBody>
          <a:bodyPr lIns="0" tIns="0" rIns="0" bIns="0" rtlCol="0" anchor="t">
            <a:spAutoFit/>
          </a:bodyPr>
          <a:lstStyle/>
          <a:p>
            <a:pPr algn="ctr">
              <a:lnSpc>
                <a:spcPts val="3799"/>
              </a:lnSpc>
            </a:pPr>
            <a:endParaRPr lang="en-US" sz="2713" dirty="0">
              <a:solidFill>
                <a:srgbClr val="000000"/>
              </a:solidFill>
              <a:latin typeface="Poppi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sp>
        <p:nvSpPr>
          <p:cNvPr id="3" name="AutoShape 3"/>
          <p:cNvSpPr/>
          <p:nvPr/>
        </p:nvSpPr>
        <p:spPr>
          <a:xfrm>
            <a:off x="1028811" y="1835718"/>
            <a:ext cx="12494114" cy="0"/>
          </a:xfrm>
          <a:prstGeom prst="line">
            <a:avLst/>
          </a:prstGeom>
          <a:ln w="38100" cap="flat">
            <a:solidFill>
              <a:srgbClr val="000000"/>
            </a:solidFill>
            <a:prstDash val="solid"/>
            <a:headEnd type="none" w="sm" len="sm"/>
            <a:tailEnd type="none" w="sm" len="sm"/>
          </a:ln>
        </p:spPr>
      </p:sp>
      <p:grpSp>
        <p:nvGrpSpPr>
          <p:cNvPr id="4" name="Group 4"/>
          <p:cNvGrpSpPr/>
          <p:nvPr/>
        </p:nvGrpSpPr>
        <p:grpSpPr>
          <a:xfrm>
            <a:off x="17466023" y="0"/>
            <a:ext cx="821977" cy="10287000"/>
            <a:chOff x="0" y="0"/>
            <a:chExt cx="216488" cy="2709333"/>
          </a:xfrm>
        </p:grpSpPr>
        <p:sp>
          <p:nvSpPr>
            <p:cNvPr id="5" name="Freeform 5"/>
            <p:cNvSpPr/>
            <p:nvPr/>
          </p:nvSpPr>
          <p:spPr>
            <a:xfrm>
              <a:off x="0" y="0"/>
              <a:ext cx="216488" cy="2709333"/>
            </a:xfrm>
            <a:custGeom>
              <a:avLst/>
              <a:gdLst/>
              <a:ahLst/>
              <a:cxnLst/>
              <a:rect l="l" t="t" r="r" b="b"/>
              <a:pathLst>
                <a:path w="216488" h="2709333">
                  <a:moveTo>
                    <a:pt x="0" y="0"/>
                  </a:moveTo>
                  <a:lnTo>
                    <a:pt x="216488" y="0"/>
                  </a:lnTo>
                  <a:lnTo>
                    <a:pt x="216488" y="2709333"/>
                  </a:lnTo>
                  <a:lnTo>
                    <a:pt x="0" y="2709333"/>
                  </a:lnTo>
                  <a:close/>
                </a:path>
              </a:pathLst>
            </a:custGeom>
            <a:solidFill>
              <a:srgbClr val="593C8F"/>
            </a:solidFill>
          </p:spPr>
        </p:sp>
        <p:sp>
          <p:nvSpPr>
            <p:cNvPr id="6" name="TextBox 6"/>
            <p:cNvSpPr txBox="1"/>
            <p:nvPr/>
          </p:nvSpPr>
          <p:spPr>
            <a:xfrm>
              <a:off x="0" y="-47625"/>
              <a:ext cx="216488" cy="2756958"/>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9584854" y="3366931"/>
            <a:ext cx="7600801" cy="3499090"/>
          </a:xfrm>
          <a:custGeom>
            <a:avLst/>
            <a:gdLst/>
            <a:ahLst/>
            <a:cxnLst/>
            <a:rect l="l" t="t" r="r" b="b"/>
            <a:pathLst>
              <a:path w="7600801" h="3499090">
                <a:moveTo>
                  <a:pt x="0" y="0"/>
                </a:moveTo>
                <a:lnTo>
                  <a:pt x="7600800" y="0"/>
                </a:lnTo>
                <a:lnTo>
                  <a:pt x="7600800" y="3499090"/>
                </a:lnTo>
                <a:lnTo>
                  <a:pt x="0" y="3499090"/>
                </a:lnTo>
                <a:lnTo>
                  <a:pt x="0" y="0"/>
                </a:lnTo>
                <a:close/>
              </a:path>
            </a:pathLst>
          </a:custGeom>
          <a:blipFill>
            <a:blip r:embed="rId3"/>
            <a:stretch>
              <a:fillRect/>
            </a:stretch>
          </a:blipFill>
        </p:spPr>
      </p:sp>
      <p:sp>
        <p:nvSpPr>
          <p:cNvPr id="8" name="TextBox 8"/>
          <p:cNvSpPr txBox="1"/>
          <p:nvPr/>
        </p:nvSpPr>
        <p:spPr>
          <a:xfrm>
            <a:off x="1315080" y="562292"/>
            <a:ext cx="12494114" cy="837567"/>
          </a:xfrm>
          <a:prstGeom prst="rect">
            <a:avLst/>
          </a:prstGeom>
        </p:spPr>
        <p:txBody>
          <a:bodyPr lIns="0" tIns="0" rIns="0" bIns="0" rtlCol="0" anchor="t">
            <a:spAutoFit/>
          </a:bodyPr>
          <a:lstStyle/>
          <a:p>
            <a:pPr>
              <a:lnSpc>
                <a:spcPts val="6859"/>
              </a:lnSpc>
              <a:spcBef>
                <a:spcPct val="0"/>
              </a:spcBef>
            </a:pPr>
            <a:r>
              <a:rPr lang="en-US" sz="4899">
                <a:solidFill>
                  <a:srgbClr val="593C8F"/>
                </a:solidFill>
                <a:latin typeface="Archivo Black"/>
              </a:rPr>
              <a:t>Objective </a:t>
            </a:r>
          </a:p>
        </p:txBody>
      </p:sp>
      <p:sp>
        <p:nvSpPr>
          <p:cNvPr id="9" name="TextBox 9"/>
          <p:cNvSpPr txBox="1"/>
          <p:nvPr/>
        </p:nvSpPr>
        <p:spPr>
          <a:xfrm>
            <a:off x="752586" y="2389364"/>
            <a:ext cx="8556042" cy="6533268"/>
          </a:xfrm>
          <a:prstGeom prst="rect">
            <a:avLst/>
          </a:prstGeom>
        </p:spPr>
        <p:txBody>
          <a:bodyPr lIns="0" tIns="0" rIns="0" bIns="0" rtlCol="0" anchor="t">
            <a:spAutoFit/>
          </a:bodyPr>
          <a:lstStyle/>
          <a:p>
            <a:pPr marL="574235" lvl="1" indent="-287117">
              <a:lnSpc>
                <a:spcPts val="3723"/>
              </a:lnSpc>
              <a:buFont typeface="Arial"/>
              <a:buChar char="•"/>
            </a:pPr>
            <a:r>
              <a:rPr lang="en-US" sz="2659">
                <a:solidFill>
                  <a:srgbClr val="593C8F"/>
                </a:solidFill>
                <a:latin typeface="Archivo Black"/>
              </a:rPr>
              <a:t>The objective of an elderly fall detection system using an ESP8266 is to monitor the movements and activities of elderly individuals to detect if they have fallen or fall in distress.</a:t>
            </a:r>
          </a:p>
          <a:p>
            <a:pPr marL="574235" lvl="1" indent="-287117">
              <a:lnSpc>
                <a:spcPts val="3723"/>
              </a:lnSpc>
              <a:buFont typeface="Arial"/>
              <a:buChar char="•"/>
            </a:pPr>
            <a:r>
              <a:rPr lang="en-US" sz="2659">
                <a:solidFill>
                  <a:srgbClr val="593C8F"/>
                </a:solidFill>
                <a:latin typeface="Archivo Black"/>
              </a:rPr>
              <a:t>The system uses sensors and algorithms to identify potential falls and triggers alerts to caregivers or emergency services so that prompt assistance can be provided. </a:t>
            </a:r>
          </a:p>
          <a:p>
            <a:pPr marL="574235" lvl="1" indent="-287117">
              <a:lnSpc>
                <a:spcPts val="3723"/>
              </a:lnSpc>
              <a:buFont typeface="Arial"/>
              <a:buChar char="•"/>
            </a:pPr>
            <a:r>
              <a:rPr lang="en-US" sz="2659">
                <a:solidFill>
                  <a:srgbClr val="593C8F"/>
                </a:solidFill>
                <a:latin typeface="Archivo Black"/>
              </a:rPr>
              <a:t>This helps in reducing the risks and consequences of falls in the elderly population, ensuring their safety and well-being.</a:t>
            </a:r>
          </a:p>
        </p:txBody>
      </p:sp>
      <p:sp>
        <p:nvSpPr>
          <p:cNvPr id="10" name="Freeform 10"/>
          <p:cNvSpPr/>
          <p:nvPr/>
        </p:nvSpPr>
        <p:spPr>
          <a:xfrm>
            <a:off x="14703163" y="9258300"/>
            <a:ext cx="2087283" cy="521821"/>
          </a:xfrm>
          <a:custGeom>
            <a:avLst/>
            <a:gdLst/>
            <a:ahLst/>
            <a:cxnLst/>
            <a:rect l="l" t="t" r="r" b="b"/>
            <a:pathLst>
              <a:path w="2087283" h="521821">
                <a:moveTo>
                  <a:pt x="0" y="0"/>
                </a:moveTo>
                <a:lnTo>
                  <a:pt x="2087283" y="0"/>
                </a:lnTo>
                <a:lnTo>
                  <a:pt x="2087283" y="521821"/>
                </a:lnTo>
                <a:lnTo>
                  <a:pt x="0" y="521821"/>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sp>
        <p:nvSpPr>
          <p:cNvPr id="3" name="AutoShape 3"/>
          <p:cNvSpPr/>
          <p:nvPr/>
        </p:nvSpPr>
        <p:spPr>
          <a:xfrm>
            <a:off x="4187609" y="2542074"/>
            <a:ext cx="12487613" cy="0"/>
          </a:xfrm>
          <a:prstGeom prst="line">
            <a:avLst/>
          </a:prstGeom>
          <a:ln w="38100" cap="flat">
            <a:solidFill>
              <a:srgbClr val="000000"/>
            </a:solidFill>
            <a:prstDash val="solid"/>
            <a:headEnd type="none" w="sm" len="sm"/>
            <a:tailEnd type="none" w="sm" len="sm"/>
          </a:ln>
        </p:spPr>
      </p:sp>
      <p:grpSp>
        <p:nvGrpSpPr>
          <p:cNvPr id="4" name="Group 4"/>
          <p:cNvGrpSpPr/>
          <p:nvPr/>
        </p:nvGrpSpPr>
        <p:grpSpPr>
          <a:xfrm>
            <a:off x="0" y="0"/>
            <a:ext cx="3086100" cy="10287000"/>
            <a:chOff x="0" y="0"/>
            <a:chExt cx="812800" cy="2709333"/>
          </a:xfrm>
        </p:grpSpPr>
        <p:sp>
          <p:nvSpPr>
            <p:cNvPr id="5" name="Freeform 5"/>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sp>
        <p:sp>
          <p:nvSpPr>
            <p:cNvPr id="6" name="TextBox 6"/>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4189304" y="8617964"/>
            <a:ext cx="2087283" cy="521821"/>
          </a:xfrm>
          <a:custGeom>
            <a:avLst/>
            <a:gdLst/>
            <a:ahLst/>
            <a:cxnLst/>
            <a:rect l="l" t="t" r="r" b="b"/>
            <a:pathLst>
              <a:path w="2087283" h="521821">
                <a:moveTo>
                  <a:pt x="0" y="0"/>
                </a:moveTo>
                <a:lnTo>
                  <a:pt x="2087283" y="0"/>
                </a:lnTo>
                <a:lnTo>
                  <a:pt x="2087283" y="521821"/>
                </a:lnTo>
                <a:lnTo>
                  <a:pt x="0" y="52182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4831936" y="1268912"/>
            <a:ext cx="4603075" cy="913051"/>
          </a:xfrm>
          <a:prstGeom prst="rect">
            <a:avLst/>
          </a:prstGeom>
        </p:spPr>
        <p:txBody>
          <a:bodyPr lIns="0" tIns="0" rIns="0" bIns="0" rtlCol="0" anchor="t">
            <a:spAutoFit/>
          </a:bodyPr>
          <a:lstStyle/>
          <a:p>
            <a:pPr algn="ctr">
              <a:lnSpc>
                <a:spcPts val="7424"/>
              </a:lnSpc>
              <a:spcBef>
                <a:spcPct val="0"/>
              </a:spcBef>
            </a:pPr>
            <a:r>
              <a:rPr lang="en-US" sz="5303">
                <a:solidFill>
                  <a:srgbClr val="593C8F"/>
                </a:solidFill>
                <a:latin typeface="Archivo Black"/>
              </a:rPr>
              <a:t>Components</a:t>
            </a:r>
          </a:p>
        </p:txBody>
      </p:sp>
      <p:sp>
        <p:nvSpPr>
          <p:cNvPr id="9" name="TextBox 9"/>
          <p:cNvSpPr txBox="1"/>
          <p:nvPr/>
        </p:nvSpPr>
        <p:spPr>
          <a:xfrm>
            <a:off x="4607325" y="3069188"/>
            <a:ext cx="7606246" cy="4187428"/>
          </a:xfrm>
          <a:prstGeom prst="rect">
            <a:avLst/>
          </a:prstGeom>
        </p:spPr>
        <p:txBody>
          <a:bodyPr lIns="0" tIns="0" rIns="0" bIns="0" rtlCol="0" anchor="t">
            <a:spAutoFit/>
          </a:bodyPr>
          <a:lstStyle/>
          <a:p>
            <a:pPr algn="just">
              <a:lnSpc>
                <a:spcPts val="4673"/>
              </a:lnSpc>
            </a:pPr>
            <a:r>
              <a:rPr lang="en-US" sz="3338" dirty="0">
                <a:solidFill>
                  <a:srgbClr val="000000"/>
                </a:solidFill>
                <a:latin typeface="Archivo Black"/>
              </a:rPr>
              <a:t>1) Esp 8266</a:t>
            </a:r>
          </a:p>
          <a:p>
            <a:pPr algn="just">
              <a:lnSpc>
                <a:spcPts val="4673"/>
              </a:lnSpc>
            </a:pPr>
            <a:r>
              <a:rPr lang="en-US" sz="3338" dirty="0">
                <a:solidFill>
                  <a:srgbClr val="000000"/>
                </a:solidFill>
                <a:latin typeface="Archivo Black"/>
              </a:rPr>
              <a:t>2)</a:t>
            </a:r>
            <a:r>
              <a:rPr lang="en-US" sz="3338" dirty="0" err="1">
                <a:solidFill>
                  <a:srgbClr val="000000"/>
                </a:solidFill>
                <a:latin typeface="Archivo Black"/>
              </a:rPr>
              <a:t>Gyrometer</a:t>
            </a:r>
            <a:r>
              <a:rPr lang="en-US" sz="3338" dirty="0">
                <a:solidFill>
                  <a:srgbClr val="000000"/>
                </a:solidFill>
                <a:latin typeface="Archivo Black"/>
              </a:rPr>
              <a:t> and Accelerometer</a:t>
            </a:r>
          </a:p>
          <a:p>
            <a:pPr algn="just">
              <a:lnSpc>
                <a:spcPts val="4673"/>
              </a:lnSpc>
            </a:pPr>
            <a:r>
              <a:rPr lang="en-US" sz="3338" dirty="0">
                <a:solidFill>
                  <a:srgbClr val="000000"/>
                </a:solidFill>
                <a:latin typeface="Archivo Black"/>
              </a:rPr>
              <a:t>3) Breadboard</a:t>
            </a:r>
          </a:p>
          <a:p>
            <a:pPr algn="just">
              <a:lnSpc>
                <a:spcPts val="4673"/>
              </a:lnSpc>
            </a:pPr>
            <a:r>
              <a:rPr lang="en-US" sz="3338" dirty="0">
                <a:solidFill>
                  <a:srgbClr val="000000"/>
                </a:solidFill>
                <a:latin typeface="Archivo Black"/>
              </a:rPr>
              <a:t>4) Connection jumper pins </a:t>
            </a:r>
          </a:p>
          <a:p>
            <a:pPr algn="just">
              <a:lnSpc>
                <a:spcPts val="4673"/>
              </a:lnSpc>
            </a:pPr>
            <a:r>
              <a:rPr lang="en-US" sz="3338" dirty="0">
                <a:solidFill>
                  <a:srgbClr val="000000"/>
                </a:solidFill>
                <a:latin typeface="Archivo Black"/>
              </a:rPr>
              <a:t>5) USB to type A connector </a:t>
            </a:r>
          </a:p>
          <a:p>
            <a:pPr algn="just">
              <a:lnSpc>
                <a:spcPts val="4673"/>
              </a:lnSpc>
            </a:pPr>
            <a:r>
              <a:rPr lang="en-US" sz="3338" dirty="0">
                <a:solidFill>
                  <a:srgbClr val="000000"/>
                </a:solidFill>
                <a:latin typeface="Archivo Black"/>
              </a:rPr>
              <a:t>6) Arduino  software</a:t>
            </a:r>
          </a:p>
          <a:p>
            <a:pPr algn="just">
              <a:lnSpc>
                <a:spcPts val="4673"/>
              </a:lnSpc>
              <a:spcBef>
                <a:spcPct val="0"/>
              </a:spcBef>
            </a:pPr>
            <a:r>
              <a:rPr lang="en-US" sz="3338" dirty="0">
                <a:solidFill>
                  <a:srgbClr val="000000"/>
                </a:solidFill>
                <a:latin typeface="Archivo Black"/>
              </a:rPr>
              <a:t>7) Blynk </a:t>
            </a:r>
            <a:r>
              <a:rPr lang="en-US" sz="3338" dirty="0" err="1">
                <a:solidFill>
                  <a:srgbClr val="000000"/>
                </a:solidFill>
                <a:latin typeface="Archivo Black"/>
              </a:rPr>
              <a:t>iot</a:t>
            </a:r>
            <a:endParaRPr lang="en-US" sz="3338" dirty="0">
              <a:solidFill>
                <a:srgbClr val="000000"/>
              </a:solidFill>
              <a:latin typeface="Archivo Black"/>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grpSp>
        <p:nvGrpSpPr>
          <p:cNvPr id="3" name="Group 3"/>
          <p:cNvGrpSpPr/>
          <p:nvPr/>
        </p:nvGrpSpPr>
        <p:grpSpPr>
          <a:xfrm>
            <a:off x="5629255" y="2571750"/>
            <a:ext cx="290233" cy="5143500"/>
            <a:chOff x="0" y="0"/>
            <a:chExt cx="76440" cy="1354667"/>
          </a:xfrm>
        </p:grpSpPr>
        <p:sp>
          <p:nvSpPr>
            <p:cNvPr id="4" name="Freeform 4"/>
            <p:cNvSpPr/>
            <p:nvPr/>
          </p:nvSpPr>
          <p:spPr>
            <a:xfrm>
              <a:off x="0" y="0"/>
              <a:ext cx="76440" cy="1354667"/>
            </a:xfrm>
            <a:custGeom>
              <a:avLst/>
              <a:gdLst/>
              <a:ahLst/>
              <a:cxnLst/>
              <a:rect l="l" t="t" r="r" b="b"/>
              <a:pathLst>
                <a:path w="76440" h="1354667">
                  <a:moveTo>
                    <a:pt x="0" y="0"/>
                  </a:moveTo>
                  <a:lnTo>
                    <a:pt x="76440" y="0"/>
                  </a:lnTo>
                  <a:lnTo>
                    <a:pt x="76440" y="1354667"/>
                  </a:lnTo>
                  <a:lnTo>
                    <a:pt x="0" y="1354667"/>
                  </a:lnTo>
                  <a:close/>
                </a:path>
              </a:pathLst>
            </a:custGeom>
            <a:solidFill>
              <a:srgbClr val="593C8F"/>
            </a:solidFill>
          </p:spPr>
        </p:sp>
        <p:sp>
          <p:nvSpPr>
            <p:cNvPr id="5" name="TextBox 5"/>
            <p:cNvSpPr txBox="1"/>
            <p:nvPr/>
          </p:nvSpPr>
          <p:spPr>
            <a:xfrm>
              <a:off x="0" y="-47625"/>
              <a:ext cx="76440" cy="140229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290943" y="2224117"/>
            <a:ext cx="9269839" cy="6145687"/>
          </a:xfrm>
          <a:custGeom>
            <a:avLst/>
            <a:gdLst/>
            <a:ahLst/>
            <a:cxnLst/>
            <a:rect l="l" t="t" r="r" b="b"/>
            <a:pathLst>
              <a:path w="9269839" h="6145687">
                <a:moveTo>
                  <a:pt x="0" y="0"/>
                </a:moveTo>
                <a:lnTo>
                  <a:pt x="9269839" y="0"/>
                </a:lnTo>
                <a:lnTo>
                  <a:pt x="9269839" y="6145686"/>
                </a:lnTo>
                <a:lnTo>
                  <a:pt x="0" y="6145686"/>
                </a:lnTo>
                <a:lnTo>
                  <a:pt x="0" y="0"/>
                </a:lnTo>
                <a:close/>
              </a:path>
            </a:pathLst>
          </a:custGeom>
          <a:blipFill>
            <a:blip r:embed="rId3"/>
            <a:stretch>
              <a:fillRect/>
            </a:stretch>
          </a:blipFill>
        </p:spPr>
      </p:sp>
      <p:sp>
        <p:nvSpPr>
          <p:cNvPr id="7" name="TextBox 7"/>
          <p:cNvSpPr txBox="1"/>
          <p:nvPr/>
        </p:nvSpPr>
        <p:spPr>
          <a:xfrm>
            <a:off x="687362" y="4243007"/>
            <a:ext cx="4491958" cy="1160737"/>
          </a:xfrm>
          <a:prstGeom prst="rect">
            <a:avLst/>
          </a:prstGeom>
        </p:spPr>
        <p:txBody>
          <a:bodyPr lIns="0" tIns="0" rIns="0" bIns="0" rtlCol="0" anchor="t">
            <a:spAutoFit/>
          </a:bodyPr>
          <a:lstStyle/>
          <a:p>
            <a:pPr algn="ctr">
              <a:lnSpc>
                <a:spcPts val="9585"/>
              </a:lnSpc>
              <a:spcBef>
                <a:spcPct val="0"/>
              </a:spcBef>
            </a:pPr>
            <a:r>
              <a:rPr lang="en-US" sz="6846">
                <a:solidFill>
                  <a:srgbClr val="000000"/>
                </a:solidFill>
                <a:latin typeface="Archivo Black"/>
              </a:rPr>
              <a:t>ESP 8266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grpSp>
        <p:nvGrpSpPr>
          <p:cNvPr id="3" name="Group 3"/>
          <p:cNvGrpSpPr/>
          <p:nvPr/>
        </p:nvGrpSpPr>
        <p:grpSpPr>
          <a:xfrm>
            <a:off x="5629255" y="2571750"/>
            <a:ext cx="290233" cy="5143500"/>
            <a:chOff x="0" y="0"/>
            <a:chExt cx="76440" cy="1354667"/>
          </a:xfrm>
        </p:grpSpPr>
        <p:sp>
          <p:nvSpPr>
            <p:cNvPr id="4" name="Freeform 4"/>
            <p:cNvSpPr/>
            <p:nvPr/>
          </p:nvSpPr>
          <p:spPr>
            <a:xfrm>
              <a:off x="0" y="0"/>
              <a:ext cx="76440" cy="1354667"/>
            </a:xfrm>
            <a:custGeom>
              <a:avLst/>
              <a:gdLst/>
              <a:ahLst/>
              <a:cxnLst/>
              <a:rect l="l" t="t" r="r" b="b"/>
              <a:pathLst>
                <a:path w="76440" h="1354667">
                  <a:moveTo>
                    <a:pt x="0" y="0"/>
                  </a:moveTo>
                  <a:lnTo>
                    <a:pt x="76440" y="0"/>
                  </a:lnTo>
                  <a:lnTo>
                    <a:pt x="76440" y="1354667"/>
                  </a:lnTo>
                  <a:lnTo>
                    <a:pt x="0" y="1354667"/>
                  </a:lnTo>
                  <a:close/>
                </a:path>
              </a:pathLst>
            </a:custGeom>
            <a:solidFill>
              <a:srgbClr val="593C8F"/>
            </a:solidFill>
          </p:spPr>
        </p:sp>
        <p:sp>
          <p:nvSpPr>
            <p:cNvPr id="5" name="TextBox 5"/>
            <p:cNvSpPr txBox="1"/>
            <p:nvPr/>
          </p:nvSpPr>
          <p:spPr>
            <a:xfrm>
              <a:off x="0" y="-47625"/>
              <a:ext cx="76440" cy="140229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707443" y="1815415"/>
            <a:ext cx="5349312" cy="6656169"/>
          </a:xfrm>
          <a:custGeom>
            <a:avLst/>
            <a:gdLst/>
            <a:ahLst/>
            <a:cxnLst/>
            <a:rect l="l" t="t" r="r" b="b"/>
            <a:pathLst>
              <a:path w="5349312" h="6656169">
                <a:moveTo>
                  <a:pt x="0" y="0"/>
                </a:moveTo>
                <a:lnTo>
                  <a:pt x="5349312" y="0"/>
                </a:lnTo>
                <a:lnTo>
                  <a:pt x="5349312" y="6656170"/>
                </a:lnTo>
                <a:lnTo>
                  <a:pt x="0" y="6656170"/>
                </a:lnTo>
                <a:lnTo>
                  <a:pt x="0" y="0"/>
                </a:lnTo>
                <a:close/>
              </a:path>
            </a:pathLst>
          </a:custGeom>
          <a:blipFill>
            <a:blip r:embed="rId3"/>
            <a:stretch>
              <a:fillRect/>
            </a:stretch>
          </a:blipFill>
        </p:spPr>
      </p:sp>
      <p:sp>
        <p:nvSpPr>
          <p:cNvPr id="7" name="TextBox 7"/>
          <p:cNvSpPr txBox="1"/>
          <p:nvPr/>
        </p:nvSpPr>
        <p:spPr>
          <a:xfrm>
            <a:off x="1702236" y="4243007"/>
            <a:ext cx="2462332" cy="2378800"/>
          </a:xfrm>
          <a:prstGeom prst="rect">
            <a:avLst/>
          </a:prstGeom>
        </p:spPr>
        <p:txBody>
          <a:bodyPr lIns="0" tIns="0" rIns="0" bIns="0" rtlCol="0" anchor="t">
            <a:spAutoFit/>
          </a:bodyPr>
          <a:lstStyle/>
          <a:p>
            <a:pPr algn="ctr">
              <a:lnSpc>
                <a:spcPts val="9585"/>
              </a:lnSpc>
            </a:pPr>
            <a:r>
              <a:rPr lang="en-US" sz="6846">
                <a:solidFill>
                  <a:srgbClr val="000000"/>
                </a:solidFill>
                <a:latin typeface="Archivo Black"/>
              </a:rPr>
              <a:t>MPU </a:t>
            </a:r>
          </a:p>
          <a:p>
            <a:pPr algn="ctr">
              <a:lnSpc>
                <a:spcPts val="9585"/>
              </a:lnSpc>
              <a:spcBef>
                <a:spcPct val="0"/>
              </a:spcBef>
            </a:pPr>
            <a:r>
              <a:rPr lang="en-US" sz="6846">
                <a:solidFill>
                  <a:srgbClr val="000000"/>
                </a:solidFill>
                <a:latin typeface="Archivo Black"/>
              </a:rPr>
              <a:t>6050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grpSp>
        <p:nvGrpSpPr>
          <p:cNvPr id="3" name="Group 3"/>
          <p:cNvGrpSpPr/>
          <p:nvPr/>
        </p:nvGrpSpPr>
        <p:grpSpPr>
          <a:xfrm>
            <a:off x="12282546" y="2571750"/>
            <a:ext cx="290233" cy="5143500"/>
            <a:chOff x="0" y="0"/>
            <a:chExt cx="76440" cy="1354667"/>
          </a:xfrm>
        </p:grpSpPr>
        <p:sp>
          <p:nvSpPr>
            <p:cNvPr id="4" name="Freeform 4"/>
            <p:cNvSpPr/>
            <p:nvPr/>
          </p:nvSpPr>
          <p:spPr>
            <a:xfrm>
              <a:off x="0" y="0"/>
              <a:ext cx="76440" cy="1354667"/>
            </a:xfrm>
            <a:custGeom>
              <a:avLst/>
              <a:gdLst/>
              <a:ahLst/>
              <a:cxnLst/>
              <a:rect l="l" t="t" r="r" b="b"/>
              <a:pathLst>
                <a:path w="76440" h="1354667">
                  <a:moveTo>
                    <a:pt x="0" y="0"/>
                  </a:moveTo>
                  <a:lnTo>
                    <a:pt x="76440" y="0"/>
                  </a:lnTo>
                  <a:lnTo>
                    <a:pt x="76440" y="1354667"/>
                  </a:lnTo>
                  <a:lnTo>
                    <a:pt x="0" y="1354667"/>
                  </a:lnTo>
                  <a:close/>
                </a:path>
              </a:pathLst>
            </a:custGeom>
            <a:solidFill>
              <a:srgbClr val="593C8F"/>
            </a:solidFill>
          </p:spPr>
        </p:sp>
        <p:sp>
          <p:nvSpPr>
            <p:cNvPr id="5" name="TextBox 5"/>
            <p:cNvSpPr txBox="1"/>
            <p:nvPr/>
          </p:nvSpPr>
          <p:spPr>
            <a:xfrm>
              <a:off x="0" y="-47625"/>
              <a:ext cx="76440" cy="140229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1986" y="2571750"/>
            <a:ext cx="10034626" cy="4977174"/>
          </a:xfrm>
          <a:custGeom>
            <a:avLst/>
            <a:gdLst/>
            <a:ahLst/>
            <a:cxnLst/>
            <a:rect l="l" t="t" r="r" b="b"/>
            <a:pathLst>
              <a:path w="10034626" h="4977174">
                <a:moveTo>
                  <a:pt x="0" y="0"/>
                </a:moveTo>
                <a:lnTo>
                  <a:pt x="10034626" y="0"/>
                </a:lnTo>
                <a:lnTo>
                  <a:pt x="10034626" y="4977174"/>
                </a:lnTo>
                <a:lnTo>
                  <a:pt x="0" y="4977174"/>
                </a:lnTo>
                <a:lnTo>
                  <a:pt x="0" y="0"/>
                </a:lnTo>
                <a:close/>
              </a:path>
            </a:pathLst>
          </a:custGeom>
          <a:blipFill>
            <a:blip r:embed="rId3"/>
            <a:stretch>
              <a:fillRect/>
            </a:stretch>
          </a:blipFill>
        </p:spPr>
      </p:sp>
      <p:sp>
        <p:nvSpPr>
          <p:cNvPr id="7" name="TextBox 7"/>
          <p:cNvSpPr txBox="1"/>
          <p:nvPr/>
        </p:nvSpPr>
        <p:spPr>
          <a:xfrm>
            <a:off x="13107652" y="4625289"/>
            <a:ext cx="4723148" cy="901401"/>
          </a:xfrm>
          <a:prstGeom prst="rect">
            <a:avLst/>
          </a:prstGeom>
        </p:spPr>
        <p:txBody>
          <a:bodyPr wrap="square" lIns="0" tIns="0" rIns="0" bIns="0" rtlCol="0" anchor="t">
            <a:spAutoFit/>
          </a:bodyPr>
          <a:lstStyle/>
          <a:p>
            <a:pPr algn="ctr">
              <a:lnSpc>
                <a:spcPts val="7449"/>
              </a:lnSpc>
              <a:spcBef>
                <a:spcPct val="0"/>
              </a:spcBef>
            </a:pPr>
            <a:r>
              <a:rPr lang="en-US" sz="5321" dirty="0">
                <a:solidFill>
                  <a:srgbClr val="593C8F"/>
                </a:solidFill>
                <a:latin typeface="Archivo Black"/>
              </a:rPr>
              <a:t>Connections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sp>
        <p:nvSpPr>
          <p:cNvPr id="3" name="AutoShape 3"/>
          <p:cNvSpPr/>
          <p:nvPr/>
        </p:nvSpPr>
        <p:spPr>
          <a:xfrm>
            <a:off x="1029771" y="2252109"/>
            <a:ext cx="12016085" cy="0"/>
          </a:xfrm>
          <a:prstGeom prst="line">
            <a:avLst/>
          </a:prstGeom>
          <a:ln w="38100" cap="flat">
            <a:solidFill>
              <a:srgbClr val="000000"/>
            </a:solidFill>
            <a:prstDash val="solid"/>
            <a:headEnd type="none" w="sm" len="sm"/>
            <a:tailEnd type="none" w="sm" len="sm"/>
          </a:ln>
        </p:spPr>
      </p:sp>
      <p:grpSp>
        <p:nvGrpSpPr>
          <p:cNvPr id="4" name="Group 4"/>
          <p:cNvGrpSpPr/>
          <p:nvPr/>
        </p:nvGrpSpPr>
        <p:grpSpPr>
          <a:xfrm>
            <a:off x="15201900" y="0"/>
            <a:ext cx="3086100" cy="10287000"/>
            <a:chOff x="0" y="0"/>
            <a:chExt cx="812800" cy="2709333"/>
          </a:xfrm>
        </p:grpSpPr>
        <p:sp>
          <p:nvSpPr>
            <p:cNvPr id="5" name="Freeform 5"/>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sp>
        <p:sp>
          <p:nvSpPr>
            <p:cNvPr id="6" name="TextBox 6"/>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634933" y="2537859"/>
            <a:ext cx="13732547" cy="6268504"/>
          </a:xfrm>
          <a:custGeom>
            <a:avLst/>
            <a:gdLst/>
            <a:ahLst/>
            <a:cxnLst/>
            <a:rect l="l" t="t" r="r" b="b"/>
            <a:pathLst>
              <a:path w="13732547" h="6268504">
                <a:moveTo>
                  <a:pt x="0" y="0"/>
                </a:moveTo>
                <a:lnTo>
                  <a:pt x="13732547" y="0"/>
                </a:lnTo>
                <a:lnTo>
                  <a:pt x="13732547" y="6268503"/>
                </a:lnTo>
                <a:lnTo>
                  <a:pt x="0" y="6268503"/>
                </a:lnTo>
                <a:lnTo>
                  <a:pt x="0" y="0"/>
                </a:lnTo>
                <a:close/>
              </a:path>
            </a:pathLst>
          </a:custGeom>
          <a:blipFill>
            <a:blip r:embed="rId3"/>
            <a:stretch>
              <a:fillRect/>
            </a:stretch>
          </a:blipFill>
        </p:spPr>
      </p:sp>
      <p:sp>
        <p:nvSpPr>
          <p:cNvPr id="8" name="Freeform 8"/>
          <p:cNvSpPr/>
          <p:nvPr/>
        </p:nvSpPr>
        <p:spPr>
          <a:xfrm>
            <a:off x="12280197" y="9258300"/>
            <a:ext cx="2087283" cy="521821"/>
          </a:xfrm>
          <a:custGeom>
            <a:avLst/>
            <a:gdLst/>
            <a:ahLst/>
            <a:cxnLst/>
            <a:rect l="l" t="t" r="r" b="b"/>
            <a:pathLst>
              <a:path w="2087283" h="521821">
                <a:moveTo>
                  <a:pt x="0" y="0"/>
                </a:moveTo>
                <a:lnTo>
                  <a:pt x="2087283" y="0"/>
                </a:lnTo>
                <a:lnTo>
                  <a:pt x="2087283" y="521821"/>
                </a:lnTo>
                <a:lnTo>
                  <a:pt x="0" y="52182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9144000" y="5267066"/>
            <a:ext cx="1904054" cy="810088"/>
          </a:xfrm>
          <a:custGeom>
            <a:avLst/>
            <a:gdLst/>
            <a:ahLst/>
            <a:cxnLst/>
            <a:rect l="l" t="t" r="r" b="b"/>
            <a:pathLst>
              <a:path w="1904054" h="810088">
                <a:moveTo>
                  <a:pt x="0" y="0"/>
                </a:moveTo>
                <a:lnTo>
                  <a:pt x="1904054" y="0"/>
                </a:lnTo>
                <a:lnTo>
                  <a:pt x="1904054" y="810089"/>
                </a:lnTo>
                <a:lnTo>
                  <a:pt x="0" y="810089"/>
                </a:lnTo>
                <a:lnTo>
                  <a:pt x="0" y="0"/>
                </a:lnTo>
                <a:close/>
              </a:path>
            </a:pathLst>
          </a:custGeom>
          <a:blipFill>
            <a:blip r:embed="rId5"/>
            <a:stretch>
              <a:fillRect/>
            </a:stretch>
          </a:blipFill>
        </p:spPr>
      </p:sp>
      <p:sp>
        <p:nvSpPr>
          <p:cNvPr id="10" name="TextBox 10"/>
          <p:cNvSpPr txBox="1"/>
          <p:nvPr/>
        </p:nvSpPr>
        <p:spPr>
          <a:xfrm>
            <a:off x="1595811" y="1216103"/>
            <a:ext cx="12016085" cy="748032"/>
          </a:xfrm>
          <a:prstGeom prst="rect">
            <a:avLst/>
          </a:prstGeom>
        </p:spPr>
        <p:txBody>
          <a:bodyPr lIns="0" tIns="0" rIns="0" bIns="0" rtlCol="0" anchor="t">
            <a:spAutoFit/>
          </a:bodyPr>
          <a:lstStyle/>
          <a:p>
            <a:pPr>
              <a:lnSpc>
                <a:spcPts val="6019"/>
              </a:lnSpc>
              <a:spcBef>
                <a:spcPct val="0"/>
              </a:spcBef>
            </a:pPr>
            <a:r>
              <a:rPr lang="en-US" sz="4299">
                <a:solidFill>
                  <a:srgbClr val="593C8F"/>
                </a:solidFill>
                <a:latin typeface="Archivo Black"/>
              </a:rPr>
              <a:t>Block Diagram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069868" y="1729930"/>
            <a:ext cx="12291840" cy="0"/>
          </a:xfrm>
          <a:prstGeom prst="line">
            <a:avLst/>
          </a:prstGeom>
          <a:ln w="38100" cap="flat">
            <a:solidFill>
              <a:srgbClr val="000000"/>
            </a:solidFill>
            <a:prstDash val="solid"/>
            <a:headEnd type="none" w="sm" len="sm"/>
            <a:tailEnd type="none" w="sm" len="sm"/>
          </a:ln>
        </p:spPr>
      </p:sp>
      <p:grpSp>
        <p:nvGrpSpPr>
          <p:cNvPr id="3" name="Group 3"/>
          <p:cNvGrpSpPr/>
          <p:nvPr/>
        </p:nvGrpSpPr>
        <p:grpSpPr>
          <a:xfrm>
            <a:off x="0" y="0"/>
            <a:ext cx="3086100" cy="10287000"/>
            <a:chOff x="0" y="0"/>
            <a:chExt cx="812800" cy="2709333"/>
          </a:xfrm>
        </p:grpSpPr>
        <p:sp>
          <p:nvSpPr>
            <p:cNvPr id="4" name="Freeform 4"/>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sp>
        <p:sp>
          <p:nvSpPr>
            <p:cNvPr id="5" name="TextBox 5"/>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5583926" y="9258300"/>
            <a:ext cx="2087283" cy="521821"/>
          </a:xfrm>
          <a:custGeom>
            <a:avLst/>
            <a:gdLst/>
            <a:ahLst/>
            <a:cxnLst/>
            <a:rect l="l" t="t" r="r" b="b"/>
            <a:pathLst>
              <a:path w="2087283" h="521821">
                <a:moveTo>
                  <a:pt x="0" y="0"/>
                </a:moveTo>
                <a:lnTo>
                  <a:pt x="2087283" y="0"/>
                </a:lnTo>
                <a:lnTo>
                  <a:pt x="2087283" y="521821"/>
                </a:lnTo>
                <a:lnTo>
                  <a:pt x="0" y="52182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5423502" y="2053780"/>
            <a:ext cx="8731486" cy="7824995"/>
          </a:xfrm>
          <a:custGeom>
            <a:avLst/>
            <a:gdLst/>
            <a:ahLst/>
            <a:cxnLst/>
            <a:rect l="l" t="t" r="r" b="b"/>
            <a:pathLst>
              <a:path w="8731486" h="7824995">
                <a:moveTo>
                  <a:pt x="0" y="0"/>
                </a:moveTo>
                <a:lnTo>
                  <a:pt x="8731486" y="0"/>
                </a:lnTo>
                <a:lnTo>
                  <a:pt x="8731486" y="7824995"/>
                </a:lnTo>
                <a:lnTo>
                  <a:pt x="0" y="7824995"/>
                </a:lnTo>
                <a:lnTo>
                  <a:pt x="0" y="0"/>
                </a:lnTo>
                <a:close/>
              </a:path>
            </a:pathLst>
          </a:custGeom>
          <a:blipFill>
            <a:blip r:embed="rId3"/>
            <a:stretch>
              <a:fillRect/>
            </a:stretch>
          </a:blipFill>
        </p:spPr>
      </p:sp>
      <p:sp>
        <p:nvSpPr>
          <p:cNvPr id="8" name="TextBox 8"/>
          <p:cNvSpPr txBox="1"/>
          <p:nvPr/>
        </p:nvSpPr>
        <p:spPr>
          <a:xfrm>
            <a:off x="4540248" y="544511"/>
            <a:ext cx="3472678" cy="863602"/>
          </a:xfrm>
          <a:prstGeom prst="rect">
            <a:avLst/>
          </a:prstGeom>
        </p:spPr>
        <p:txBody>
          <a:bodyPr lIns="0" tIns="0" rIns="0" bIns="0" rtlCol="0" anchor="t">
            <a:spAutoFit/>
          </a:bodyPr>
          <a:lstStyle/>
          <a:p>
            <a:pPr algn="ctr">
              <a:lnSpc>
                <a:spcPts val="6999"/>
              </a:lnSpc>
              <a:spcBef>
                <a:spcPct val="0"/>
              </a:spcBef>
            </a:pPr>
            <a:r>
              <a:rPr lang="en-US" sz="4999">
                <a:solidFill>
                  <a:srgbClr val="593C8F"/>
                </a:solidFill>
                <a:latin typeface="Archivo Black"/>
              </a:rPr>
              <a:t>Workflow</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sp>
        <p:nvSpPr>
          <p:cNvPr id="3" name="AutoShape 3"/>
          <p:cNvSpPr/>
          <p:nvPr/>
        </p:nvSpPr>
        <p:spPr>
          <a:xfrm>
            <a:off x="3019993" y="5781675"/>
            <a:ext cx="12823257" cy="0"/>
          </a:xfrm>
          <a:prstGeom prst="line">
            <a:avLst/>
          </a:prstGeom>
          <a:ln w="38100" cap="flat">
            <a:solidFill>
              <a:srgbClr val="000000"/>
            </a:solidFill>
            <a:prstDash val="solid"/>
            <a:headEnd type="none" w="sm" len="sm"/>
            <a:tailEnd type="none" w="sm" len="sm"/>
          </a:ln>
        </p:spPr>
      </p:sp>
      <p:sp>
        <p:nvSpPr>
          <p:cNvPr id="4" name="TextBox 4"/>
          <p:cNvSpPr txBox="1"/>
          <p:nvPr/>
        </p:nvSpPr>
        <p:spPr>
          <a:xfrm>
            <a:off x="4676557" y="4237353"/>
            <a:ext cx="9647620" cy="906147"/>
          </a:xfrm>
          <a:prstGeom prst="rect">
            <a:avLst/>
          </a:prstGeom>
        </p:spPr>
        <p:txBody>
          <a:bodyPr lIns="0" tIns="0" rIns="0" bIns="0" rtlCol="0" anchor="t">
            <a:spAutoFit/>
          </a:bodyPr>
          <a:lstStyle/>
          <a:p>
            <a:pPr algn="ctr">
              <a:lnSpc>
                <a:spcPts val="7279"/>
              </a:lnSpc>
              <a:spcBef>
                <a:spcPct val="0"/>
              </a:spcBef>
            </a:pPr>
            <a:r>
              <a:rPr lang="en-US" sz="5199">
                <a:solidFill>
                  <a:srgbClr val="593C8F"/>
                </a:solidFill>
                <a:latin typeface="Archivo Black"/>
              </a:rPr>
              <a:t>Thank You</a:t>
            </a:r>
          </a:p>
        </p:txBody>
      </p:sp>
      <p:sp>
        <p:nvSpPr>
          <p:cNvPr id="5" name="Freeform 5"/>
          <p:cNvSpPr/>
          <p:nvPr/>
        </p:nvSpPr>
        <p:spPr>
          <a:xfrm>
            <a:off x="13763158" y="387350"/>
            <a:ext cx="4160184" cy="4114800"/>
          </a:xfrm>
          <a:custGeom>
            <a:avLst/>
            <a:gdLst/>
            <a:ahLst/>
            <a:cxnLst/>
            <a:rect l="l" t="t" r="r" b="b"/>
            <a:pathLst>
              <a:path w="4160184" h="4114800">
                <a:moveTo>
                  <a:pt x="0" y="0"/>
                </a:moveTo>
                <a:lnTo>
                  <a:pt x="4160184" y="0"/>
                </a:lnTo>
                <a:lnTo>
                  <a:pt x="4160184" y="4114800"/>
                </a:lnTo>
                <a:lnTo>
                  <a:pt x="0" y="4114800"/>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516373" y="5762625"/>
            <a:ext cx="4160184" cy="4114800"/>
          </a:xfrm>
          <a:custGeom>
            <a:avLst/>
            <a:gdLst/>
            <a:ahLst/>
            <a:cxnLst/>
            <a:rect l="l" t="t" r="r" b="b"/>
            <a:pathLst>
              <a:path w="4160184" h="4114800">
                <a:moveTo>
                  <a:pt x="0" y="0"/>
                </a:moveTo>
                <a:lnTo>
                  <a:pt x="4160184" y="0"/>
                </a:lnTo>
                <a:lnTo>
                  <a:pt x="4160184" y="4114800"/>
                </a:lnTo>
                <a:lnTo>
                  <a:pt x="0" y="4114800"/>
                </a:lnTo>
                <a:lnTo>
                  <a:pt x="0" y="0"/>
                </a:lnTo>
                <a:close/>
              </a:path>
            </a:pathLst>
          </a:custGeom>
          <a:blipFill>
            <a:blip>
              <a:alphaModFix amt="37000"/>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TotalTime>
  <Words>127</Words>
  <Application>Microsoft Office PowerPoint</Application>
  <PresentationFormat>Custom</PresentationFormat>
  <Paragraphs>20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Archivo Black</vt:lpstr>
      <vt:lpstr>League Spartan</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minimalist professional Business Proposal Presentation</dc:title>
  <cp:lastModifiedBy>Hari Dharan</cp:lastModifiedBy>
  <cp:revision>4</cp:revision>
  <dcterms:created xsi:type="dcterms:W3CDTF">2006-08-16T00:00:00Z</dcterms:created>
  <dcterms:modified xsi:type="dcterms:W3CDTF">2026-05-26T11:06:23Z</dcterms:modified>
  <dc:identifier>DAF_9biXwZY</dc:identifier>
</cp:coreProperties>
</file>